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10881360" cy="4937760"/>
          </a:xfrm>
          <a:prstGeom prst="roundRect">
            <a:avLst/>
          </a:prstGeom>
          <a:solidFill>
            <a:srgbClr val="14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9875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SIMULASI MONTE CARLO</a:t>
            </a:r>
          </a:p>
          <a:p>
            <a:pPr>
              <a:defRPr sz="2300">
                <a:solidFill>
                  <a:srgbClr val="D2E1FA"/>
                </a:solidFill>
              </a:defRPr>
            </a:pPr>
            <a:r>
              <a:t>Memperkirakan Jumlah Proses Pencucian dalam 8 Jam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Proyek Simulasi dan Pemodelan • Python</a:t>
            </a:r>
          </a:p>
          <a:p>
            <a:pPr>
              <a:spcBef>
                <a:spcPts val="3500"/>
              </a:spcBef>
              <a:defRPr sz="1500">
                <a:solidFill>
                  <a:srgbClr val="FFFFFF"/>
                </a:solidFill>
              </a:defRPr>
            </a:pPr>
            <a:r>
              <a:t>Nama: ………………………   |   Kelas: ………………………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1.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Masalah utama: berapa banyak proses pencucian yang dapat diselesaikan selama 8 jam?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Dalam proses pencucian komponen, durasi setiap tahap tidak selalu sama.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Perbedaan durasi membuat jumlah proses yang selesai selama satu shift menjadi tidak pasti.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Simulasi membantu memperkirakan berbagai kemungkinan hasil sebelum mengambil keputusan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2. Tujuan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Membangun model sederhana untuk menggambarkan proses pencucian berulang.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Memasukkan ketidakpastian durasi pada setiap tahap proses.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Menjalankan 5.000 percobaan Monte Carlo.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Menganalisis rata-rata, median, rentang hasil, dan peluang mencapai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3. Sumber Data dan Asumsi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Penting: hasil model tidak boleh disebut sebagai data lapangan.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Referensi konsep: workbook 988 Washers Simulation yang membahas simulasi proses pencucian.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Data operasional pabrik belum tersedia; angka berikut adalah asumsi untuk demonstrasi.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Isi air: 4–8 menit; pencucian: triangular 12, 16, 20 menit.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Pembilasan: 5–9 menit; pengeringan: 6–12 menit.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Waktu kerja dibatasi 480 menit (8 jam).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4. Metode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1) Ambil sampel acak durasi dari distribusi yang ditetapkan.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2) Jumlahkan durasi isi air, pencucian, pembilasan, dan pengeringan.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3) Tambahkan satu proses selama total waktu belum melewati 480 menit.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4) Catat jumlah proses yang selesai.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5) Ulangi langkah tersebut 5.000 kali dan rangkum hasilnya.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5. Model dan Variabel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Model disederhanakan agar fokus pada pengaruh variasi durasi.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Variabel acak: durasi pada empat tahap pencucian.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Batas waktu: 480 menit per percobaan.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Keluaran utama: jumlah proses pencucian yang selesai.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Ukuran ringkasan: rata-rata, median, persentil ke-10 dan ke-90, serta peluang minimal 30 proses.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Asumsi: satu mesin, proses berjalan berurutan, dan tidak ada kerusakan atau waktu istirahat.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6. Hasil Simulasi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Hasil ilustratif dari 5.000 percobaan dengan seed 42</a:t>
            </a:r>
          </a:p>
        </p:txBody>
      </p:sp>
      <p:pic>
        <p:nvPicPr>
          <p:cNvPr id="5" name="Picture 4" descr="distribusi_h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75120" cy="3754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28800"/>
            <a:ext cx="3840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4B5563"/>
                </a:solidFill>
              </a:defRPr>
            </a:pPr>
            <a:r>
              <a:t>Rata-rata: 12.08 proses</a:t>
            </a:r>
          </a:p>
          <a:p>
            <a:pPr>
              <a:spcAft>
                <a:spcPts val="1500"/>
              </a:spcAft>
              <a:defRPr sz="1900">
                <a:solidFill>
                  <a:srgbClr val="4B5563"/>
                </a:solidFill>
              </a:defRPr>
            </a:pPr>
            <a:r>
              <a:t>Median: 12 proses</a:t>
            </a:r>
          </a:p>
          <a:p>
            <a:pPr>
              <a:spcAft>
                <a:spcPts val="1500"/>
              </a:spcAft>
              <a:defRPr sz="1900">
                <a:solidFill>
                  <a:srgbClr val="4B5563"/>
                </a:solidFill>
              </a:defRPr>
            </a:pPr>
            <a:r>
              <a:t>Persentil 10–90: 12–12 proses</a:t>
            </a:r>
          </a:p>
          <a:p>
            <a:pPr>
              <a:spcAft>
                <a:spcPts val="1500"/>
              </a:spcAft>
              <a:defRPr sz="1900">
                <a:solidFill>
                  <a:srgbClr val="4B5563"/>
                </a:solidFill>
              </a:defRPr>
            </a:pPr>
            <a:r>
              <a:t>Peluang ≥30 proses: 0.0%</a:t>
            </a:r>
          </a:p>
          <a:p>
            <a:pPr>
              <a:spcAft>
                <a:spcPts val="1500"/>
              </a:spcAft>
              <a:defRPr sz="1900">
                <a:solidFill>
                  <a:srgbClr val="4B5563"/>
                </a:solidFill>
              </a:defRPr>
            </a:pPr>
            <a:r>
              <a:t>Angka dapat berubah jika asumsi diubah.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7. Bahasa Pemrograman dan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Python: menjalankan logika simulasi.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NumPy: menghasilkan sampel acak dengan distribusi probabilitas.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Pandas: menyimpan hasil simulasi ke CSV dan menghitung statistik.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Matplotlib: membuat histogram distribusi hasil.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GitHub: menyimpan kode, dokumentasi, grafik, dan riwayat perubahan.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8. Keterlibatan AI dan Pembuktian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Lengkapi bagian kosong setelah memeriksa kontribusi aktual.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4B5563"/>
                </a:solidFill>
              </a:defRPr>
            </a:pPr>
            <a:r>
              <a:t>•  Persentase AI harus dilaporkan sesuai penggunaan yang benar-benar terjadi; jangan mengarang angka.</a:t>
            </a:r>
          </a:p>
          <a:p>
            <a:pPr>
              <a:spcAft>
                <a:spcPts val="1400"/>
              </a:spcAft>
              <a:defRPr sz="1900">
                <a:solidFill>
                  <a:srgbClr val="4B5563"/>
                </a:solidFill>
              </a:defRPr>
            </a:pPr>
            <a:r>
              <a:t>•  Isi deklarasi: AI = ____%; pekerjaan mandiri = ____%. Pastikan kontribusi AI tidak melebihi batas dosen.</a:t>
            </a:r>
          </a:p>
          <a:p>
            <a:pPr>
              <a:spcAft>
                <a:spcPts val="1400"/>
              </a:spcAft>
              <a:defRPr sz="1900">
                <a:solidFill>
                  <a:srgbClr val="4B5563"/>
                </a:solidFill>
              </a:defRPr>
            </a:pPr>
            <a:r>
              <a:t>•  Simpan bukti: prompt yang digunakan, bagian kode yang dibantu AI, serta penjelasan perubahan yang dibuat sendiri.</a:t>
            </a:r>
          </a:p>
          <a:p>
            <a:pPr>
              <a:spcAft>
                <a:spcPts val="1400"/>
              </a:spcAft>
              <a:defRPr sz="1900">
                <a:solidFill>
                  <a:srgbClr val="4B5563"/>
                </a:solidFill>
              </a:defRPr>
            </a:pPr>
            <a:r>
              <a:t>•  Gunakan commit GitHub bertahap dan pesan commit yang sesuai pekerjaan nyata.</a:t>
            </a:r>
          </a:p>
          <a:p>
            <a:pPr>
              <a:spcAft>
                <a:spcPts val="1400"/>
              </a:spcAft>
              <a:defRPr sz="1900">
                <a:solidFill>
                  <a:srgbClr val="4B5563"/>
                </a:solidFill>
              </a:defRPr>
            </a:pPr>
            <a:r>
              <a:t>•  Pahami dan uji sendiri kode, asumsi, rumus, serta interpretasi hasil.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9. Struktur Repository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Ganti nama, kelas, dan tambahkan tautan repository setelah diunggah.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README.md — deskripsi, asumsi, cara menjalankan, dan hasil.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simulasi_monte_carlo.py — kode utama.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contoh_hasil_simulasi.csv — data hasil percobaan.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distribusi_hasil.png — grafik hasil simulasi.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presentasi_simulasi_monte_carlo.pptx — bahan presentasi.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A"/>
                </a:solidFill>
              </a:defRPr>
            </a:pPr>
            <a:r>
              <a:t>10.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Durasi proses yang berubah-ubah menyebabkan jumlah proses per shift juga bervariasi.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Monte Carlo memberi gambaran distribusi kemungkinan hasil, bukan satu angka yang pasti.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Hasil hanya berlaku untuk asumsi yang digunakan; data nyata diperlukan agar model lebih akurat.</a:t>
            </a:r>
          </a:p>
          <a:p>
            <a:pPr>
              <a:spcAft>
                <a:spcPts val="1400"/>
              </a:spcAft>
              <a:defRPr sz="2100">
                <a:solidFill>
                  <a:srgbClr val="4B5563"/>
                </a:solidFill>
              </a:defRPr>
            </a:pPr>
            <a:r>
              <a:t>•  Pengembangan berikutnya: validasi asumsi dengan data pencucian aktual dan menambahkan waktu henti mesin.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